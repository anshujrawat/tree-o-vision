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2" r:id="rId7"/>
    <p:sldId id="260" r:id="rId8"/>
    <p:sldId id="267" r:id="rId9"/>
    <p:sldId id="264" r:id="rId10"/>
    <p:sldId id="261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79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EAF2E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640080" cy="640080"/>
          </a:xfrm>
          <a:prstGeom prst="line">
            <a:avLst/>
          </a:prstGeom>
          <a:solidFill>
            <a:srgbClr val="2C5F2D"/>
          </a:solidFill>
          <a:ln/>
        </p:spPr>
      </p:sp>
      <p:pic>
        <p:nvPicPr>
          <p:cNvPr id="4" name="Image 0" descr="/home/claude/ppt/icons/tre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89611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Tree-O-Vision</a:t>
            </a:r>
            <a:endParaRPr lang="en-US" sz="4000" dirty="0">
              <a:solidFill>
                <a:schemeClr val="accent6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Tree Coverage Dashboard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web platform for visualizing forest density and identifying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priorities across Indian states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92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15768" y="489204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15768" y="4892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51376" y="489204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51376" y="4892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12664" y="48920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12664" y="4892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 Data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data exists — but it isn’t usable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766560" cy="0"/>
          </a:xfrm>
          <a:prstGeom prst="line">
            <a:avLst/>
          </a:prstGeom>
          <a:noFill/>
          <a:ln w="12700">
            <a:solidFill>
              <a:srgbClr val="E3E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/>
        </p:spPr>
      </p:sp>
      <p:pic>
        <p:nvPicPr>
          <p:cNvPr id="6" name="Image 0" descr="/home/claude/ppt/icons/triang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013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Buried in static reports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13055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State of Forest Report (ISFR) publishes rich state-wise data, but it sits in long PDFs — not something a planner, student, or citizen can quickly query or compare.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/>
        </p:spPr>
      </p:sp>
      <p:pic>
        <p:nvPicPr>
          <p:cNvPr id="10" name="Image 1" descr="/home/claude/ppt/icons/temp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2186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fast way to compare states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354787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and researchers need to see, at a glance, which states are gaining forest cover and which are losing it — today that means manually cross-referencing tables.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6634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/>
        </p:spPr>
      </p:sp>
      <p:pic>
        <p:nvPicPr>
          <p:cNvPr id="14" name="Image 2" descr="/home/claude/ppt/icons/seedling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8006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6360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link from data to action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25880" y="496519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a state’s forest density doesn’t tell you what to plant, where, or why. Reports rarely translate into concrete plantation guidance.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18120" y="1417320"/>
            <a:ext cx="3794760" cy="4709160"/>
          </a:xfrm>
          <a:prstGeom prst="roundRect">
            <a:avLst>
              <a:gd name="adj" fmla="val 2892"/>
            </a:avLst>
          </a:prstGeom>
          <a:solidFill>
            <a:srgbClr val="1B4332"/>
          </a:solidFill>
          <a:ln/>
        </p:spPr>
      </p:sp>
      <p:sp>
        <p:nvSpPr>
          <p:cNvPr id="18" name="Text 13"/>
          <p:cNvSpPr/>
          <p:nvPr/>
        </p:nvSpPr>
        <p:spPr>
          <a:xfrm>
            <a:off x="81381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138160" y="20574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8138160" y="27889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geographical area is under forest &amp; tree cover — a number that shifts every ISFR cycle and needs constant monitoring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38160" y="3794760"/>
            <a:ext cx="320040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3816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28+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8138160" y="4526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UTs whose progress needs to be tracked, compared, and acted on individually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138160" y="5257800"/>
            <a:ext cx="320040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38160" y="5440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a static government report into an interactive decision-support tool.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that turns ISFR data into insight and action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3896" y="1965960"/>
            <a:ext cx="731520" cy="731520"/>
          </a:xfrm>
          <a:prstGeom prst="lin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" y="333756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forest density, cover type, and year-on-year change modeled from ISFR estimates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08960" y="3063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46704" y="169164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965960"/>
            <a:ext cx="731520" cy="731520"/>
          </a:xfrm>
          <a:prstGeom prst="line">
            <a:avLst/>
          </a:prstGeom>
          <a:solidFill>
            <a:srgbClr val="2C5F2D"/>
          </a:solidFill>
          <a:ln/>
        </p:spPr>
      </p:sp>
      <p:pic>
        <p:nvPicPr>
          <p:cNvPr id="13" name="Image 1" descr="/home/claude/ppt/icons/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9584" y="28803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Exploration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47872" y="333756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India map lets any state be selected, filtered by density, or searched by name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07024" y="3063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144768" y="169164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50024" y="1965960"/>
            <a:ext cx="731520" cy="731520"/>
          </a:xfrm>
          <a:prstGeom prst="line">
            <a:avLst/>
          </a:prstGeom>
          <a:solidFill>
            <a:srgbClr val="2C5F2D"/>
          </a:solidFill>
          <a:ln/>
        </p:spPr>
      </p:sp>
      <p:pic>
        <p:nvPicPr>
          <p:cNvPr id="20" name="Image 2" descr="/home/claude/ppt/icons/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1488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81928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27648" y="28803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Insight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345936" y="333756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surfaces trends, top/bottom performers, and pattern summaries automatically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705088" y="30632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942832" y="169164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848088" y="1965960"/>
            <a:ext cx="731520" cy="731520"/>
          </a:xfrm>
          <a:prstGeom prst="line">
            <a:avLst/>
          </a:prstGeom>
          <a:solidFill>
            <a:srgbClr val="D68C45"/>
          </a:solidFill>
          <a:ln/>
        </p:spPr>
      </p:sp>
      <p:pic>
        <p:nvPicPr>
          <p:cNvPr id="27" name="Image 3" descr="/home/claude/ppt/icons/seedl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0968" y="21488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79992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25712" y="28803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Output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144000" y="333756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State-specific plantation suggestions and an exportable report turn insight into next steps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AF2EC"/>
          </a:solidFill>
          <a:ln/>
        </p:spPr>
      </p:sp>
      <p:pic>
        <p:nvPicPr>
          <p:cNvPr id="32" name="Image 4" descr="/home/claude/ppt/icons/leaf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4924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17320" y="51663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generic BI dashboard, every view here is purpose-built for one domain — forest cover — so filters, charts, and recommendations speak the language of foresters and policy planners, not generic "data analysts."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766560" cy="0"/>
          </a:xfrm>
          <a:prstGeom prst="line">
            <a:avLst/>
          </a:prstGeom>
          <a:noFill/>
          <a:ln w="12700">
            <a:solidFill>
              <a:srgbClr val="E3E8E2"/>
            </a:solidFill>
            <a:prstDash val="solid"/>
          </a:ln>
        </p:spPr>
      </p:sp>
      <p:sp>
        <p:nvSpPr>
          <p:cNvPr id="26" name="Text 4"/>
          <p:cNvSpPr/>
          <p:nvPr/>
        </p:nvSpPr>
        <p:spPr>
          <a:xfrm>
            <a:off x="1486301" y="19537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/>
              <a:t>🌳    </a:t>
            </a:r>
            <a:r>
              <a:rPr lang="en-US" sz="1600" b="1" dirty="0" smtClean="0"/>
              <a:t>Visualize</a:t>
            </a:r>
            <a:r>
              <a:rPr lang="en-US" sz="1600" dirty="0" smtClean="0"/>
              <a:t> </a:t>
            </a:r>
            <a:r>
              <a:rPr lang="en-US" sz="1600" dirty="0"/>
              <a:t>tree coverage and forest density across different states of India.</a:t>
            </a:r>
          </a:p>
        </p:txBody>
      </p:sp>
      <p:sp>
        <p:nvSpPr>
          <p:cNvPr id="30" name="Text 4"/>
          <p:cNvSpPr/>
          <p:nvPr/>
        </p:nvSpPr>
        <p:spPr>
          <a:xfrm>
            <a:off x="1502344" y="2852121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/>
              <a:t>📊    </a:t>
            </a:r>
            <a:r>
              <a:rPr lang="en-US" sz="1600" b="1" dirty="0" smtClean="0"/>
              <a:t>Analyze</a:t>
            </a:r>
            <a:r>
              <a:rPr lang="en-US" sz="1600" dirty="0" smtClean="0"/>
              <a:t> </a:t>
            </a:r>
            <a:r>
              <a:rPr lang="en-US" sz="1600" dirty="0"/>
              <a:t>tree distribution using interactive maps, charts, and data analytics.</a:t>
            </a:r>
          </a:p>
        </p:txBody>
      </p:sp>
      <p:sp>
        <p:nvSpPr>
          <p:cNvPr id="31" name="Text 4"/>
          <p:cNvSpPr/>
          <p:nvPr/>
        </p:nvSpPr>
        <p:spPr>
          <a:xfrm>
            <a:off x="1502344" y="37103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/>
              <a:t>👥    </a:t>
            </a:r>
            <a:r>
              <a:rPr lang="en-US" sz="1600" b="1" dirty="0" smtClean="0"/>
              <a:t>Estimate</a:t>
            </a:r>
            <a:r>
              <a:rPr lang="en-US" sz="1600" dirty="0" smtClean="0"/>
              <a:t> </a:t>
            </a:r>
            <a:r>
              <a:rPr lang="en-US" sz="1600" dirty="0"/>
              <a:t>tree requirements based on population and calculate the tree deficit.</a:t>
            </a:r>
          </a:p>
        </p:txBody>
      </p:sp>
      <p:sp>
        <p:nvSpPr>
          <p:cNvPr id="32" name="Text 4"/>
          <p:cNvSpPr/>
          <p:nvPr/>
        </p:nvSpPr>
        <p:spPr>
          <a:xfrm>
            <a:off x="1582555" y="54669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/>
              <a:t>🌍    </a:t>
            </a:r>
            <a:r>
              <a:rPr lang="en-US" sz="1600" b="1" dirty="0" smtClean="0"/>
              <a:t>Support</a:t>
            </a:r>
            <a:r>
              <a:rPr lang="en-US" sz="1600" dirty="0" smtClean="0"/>
              <a:t> </a:t>
            </a:r>
            <a:r>
              <a:rPr lang="en-US" sz="1600" dirty="0"/>
              <a:t>data-driven environmental planning for government agencies, NGOs, and researchers.</a:t>
            </a:r>
          </a:p>
        </p:txBody>
      </p:sp>
      <p:sp>
        <p:nvSpPr>
          <p:cNvPr id="33" name="Text 4"/>
          <p:cNvSpPr/>
          <p:nvPr/>
        </p:nvSpPr>
        <p:spPr>
          <a:xfrm>
            <a:off x="1518387" y="4576621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🌱 </a:t>
            </a:r>
            <a:r>
              <a:rPr lang="en-US" sz="1600" dirty="0" smtClean="0"/>
              <a:t>   </a:t>
            </a:r>
            <a:r>
              <a:rPr lang="en-US" sz="1600" b="1" dirty="0" smtClean="0"/>
              <a:t>Identify</a:t>
            </a:r>
            <a:r>
              <a:rPr lang="en-US" sz="1600" dirty="0" smtClean="0"/>
              <a:t> </a:t>
            </a:r>
            <a:r>
              <a:rPr lang="en-US" sz="1600" dirty="0"/>
              <a:t>regions that require priority plantation for sustainable afforestation.</a:t>
            </a:r>
          </a:p>
        </p:txBody>
      </p:sp>
    </p:spTree>
    <p:extLst>
      <p:ext uri="{BB962C8B-B14F-4D97-AF65-F5344CB8AC3E}">
        <p14:creationId xmlns:p14="http://schemas.microsoft.com/office/powerpoint/2010/main" val="236823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maps directly to a component in the codebase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7F8F6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pic>
        <p:nvPicPr>
          <p:cNvPr id="6" name="Image 0" descr="/home/claude/ppt/icons/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4086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India Map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68833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Click-to-explore state map (IndiaMap.tsx) that opens a detailed state view (StateDetail.tsx) on selection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7F8F6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7556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pic>
        <p:nvPicPr>
          <p:cNvPr id="11" name="Image 1" descr="/home/claude/ppt/icon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87452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34086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Filters &amp; Search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44568" y="268833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states by forest-density range or search by name (Filters.tsx), instantly narrowing the map and charts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7F8F6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17556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pic>
        <p:nvPicPr>
          <p:cNvPr id="16" name="Image 2" descr="/home/claude/ppt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87452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34086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Charts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39328" y="268833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Top/Bottom-states bar charts, a forest-type pie chart, and a year-on-year growth line chart (Charts.tsx, via Recharts)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7F8F6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pic>
        <p:nvPicPr>
          <p:cNvPr id="21" name="Image 3" descr="/home/claude/ppt/icons/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5196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71830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506577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insights panel (InsightsPanel.tsx) that summarizes patterns in the currently filtered data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7F8F6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456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pic>
        <p:nvPicPr>
          <p:cNvPr id="26" name="Image 4" descr="/home/claude/ppt/icons/seedl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251960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71830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Plantation Suggestions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44568" y="506577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planting recommendations (PlantationSuggestions.tsx) tailored to the selected state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7F8F6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pic>
        <p:nvPicPr>
          <p:cNvPr id="31" name="Image 5" descr="/home/claude/ppt/icons/downloa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251960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718304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Downloadable Report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39328" y="5065776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(DownloadReport.tsx) so findings can be shared outside the dashboard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ees Required by Popul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Required by Population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module that turns a population figure into a concrete plantation target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766560" cy="0"/>
          </a:xfrm>
          <a:prstGeom prst="line">
            <a:avLst/>
          </a:prstGeom>
          <a:noFill/>
          <a:ln w="12700">
            <a:solidFill>
              <a:srgbClr val="E3E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/>
        </p:spPr>
      </p:sp>
      <p:pic>
        <p:nvPicPr>
          <p:cNvPr id="6" name="Image 0" descr="/home/claude/ppt/icons/user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013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Population-Weighted Target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13055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state's population is combined with its current forest density to estimate how many additional trees are needed to reach a healthy per-capita green cover.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/>
        </p:spPr>
      </p:sp>
      <p:pic>
        <p:nvPicPr>
          <p:cNvPr id="10" name="Image 1" descr="/home/claude/ppt/icons/calculato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2186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Formula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354787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trees = Population × per-capita benchmark, minus the tree-cover the state already has — recalculated instantly as filters change.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6634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/>
        </p:spPr>
      </p:sp>
      <p:pic>
        <p:nvPicPr>
          <p:cNvPr id="14" name="Image 2" descr="/home/claude/ppt/icons/treepin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8006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6360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Planting Target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25880" y="496519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— and eventually every district — gets its own recommended planting number, so plantation drives can be prioritised where the shortfall is greatest.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18120" y="1417320"/>
            <a:ext cx="3794760" cy="4709160"/>
          </a:xfrm>
          <a:prstGeom prst="roundRect">
            <a:avLst>
              <a:gd name="adj" fmla="val 2892"/>
            </a:avLst>
          </a:prstGeom>
          <a:solidFill>
            <a:srgbClr val="1B4332"/>
          </a:solidFill>
          <a:ln/>
        </p:spPr>
      </p:sp>
      <p:sp>
        <p:nvSpPr>
          <p:cNvPr id="18" name="Text 13"/>
          <p:cNvSpPr/>
          <p:nvPr/>
        </p:nvSpPr>
        <p:spPr>
          <a:xfrm>
            <a:off x="81381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CALCULATED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138160" y="20574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8138160" y="27889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tree-per-person benchmark used as the module's default target ratio — configurable per state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38160" y="3794760"/>
            <a:ext cx="320040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3816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 × Ratio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8138160" y="4526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multiplied by the per-capita ratio, minus existing cover, gives the state's tree shortfall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138160" y="5257800"/>
            <a:ext cx="320040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38160" y="5440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a population figure into a defensible, state-specific plantation target.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component-based single-page application, deployed on Vercel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863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28016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78508"/>
            <a:ext cx="512064" cy="512064"/>
          </a:xfrm>
          <a:prstGeom prst="lin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ppt/icons/rea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065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45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1975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— component-driven UI (Index.tsx orchestrates all modules)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7863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97480"/>
            <a:ext cx="128016" cy="96012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921508"/>
            <a:ext cx="512064" cy="512064"/>
          </a:xfrm>
          <a:prstGeom prst="line">
            <a:avLst/>
          </a:prstGeom>
          <a:solidFill>
            <a:srgbClr val="52796F"/>
          </a:solidFill>
          <a:ln/>
        </p:spPr>
      </p:sp>
      <p:pic>
        <p:nvPicPr>
          <p:cNvPr id="13" name="Image 1" descr="/home/claude/ppt/icons/palet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0495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788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08760" y="3118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utility classes + shadcn/ui component primitives for consistent, responsive styling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7863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840480"/>
            <a:ext cx="128016" cy="9601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4064508"/>
            <a:ext cx="512064" cy="512064"/>
          </a:xfrm>
          <a:prstGeom prst="line">
            <a:avLst/>
          </a:prstGeom>
          <a:solidFill>
            <a:srgbClr val="84B59F"/>
          </a:solidFill>
          <a:ln/>
        </p:spPr>
      </p:sp>
      <p:pic>
        <p:nvPicPr>
          <p:cNvPr id="19" name="Image 2" descr="/home/claude/ppt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19252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931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Layer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508760" y="4261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for the interactive state map · Recharts for bar / pie / line charts · Lucide for iconography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7863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4983480"/>
            <a:ext cx="128016" cy="960120"/>
          </a:xfrm>
          <a:prstGeom prst="rect">
            <a:avLst/>
          </a:prstGeom>
          <a:solidFill>
            <a:srgbClr val="D68C45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5207508"/>
            <a:ext cx="512064" cy="512064"/>
          </a:xfrm>
          <a:prstGeom prst="line">
            <a:avLst/>
          </a:prstGeom>
          <a:solidFill>
            <a:srgbClr val="D68C45"/>
          </a:solidFill>
          <a:ln/>
        </p:spPr>
      </p:sp>
      <p:pic>
        <p:nvPicPr>
          <p:cNvPr id="25" name="Image 3" descr="/home/claude/pp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33552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5074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508760" y="5404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forest density &amp; cover-type figures modeled on India State of Forest Report (ISFR) estimates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8686800" y="1554480"/>
            <a:ext cx="2926080" cy="4709160"/>
          </a:xfrm>
          <a:prstGeom prst="roundRect">
            <a:avLst>
              <a:gd name="adj" fmla="val 3125"/>
            </a:avLst>
          </a:prstGeom>
          <a:solidFill>
            <a:srgbClr val="1B4332"/>
          </a:solidFill>
          <a:ln/>
        </p:spPr>
      </p:sp>
      <p:sp>
        <p:nvSpPr>
          <p:cNvPr id="29" name="Text 23"/>
          <p:cNvSpPr/>
          <p:nvPr/>
        </p:nvSpPr>
        <p:spPr>
          <a:xfrm>
            <a:off x="891540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915400" y="2249424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1" name="Text 25"/>
          <p:cNvSpPr/>
          <p:nvPr/>
        </p:nvSpPr>
        <p:spPr>
          <a:xfrm>
            <a:off x="9098280" y="212140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reuse: each chart/panel is an independent, testable unit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915400" y="3145536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3" name="Text 27"/>
          <p:cNvSpPr/>
          <p:nvPr/>
        </p:nvSpPr>
        <p:spPr>
          <a:xfrm>
            <a:off x="9098280" y="30175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Recharts are lightweight, no heavy GIS server needed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915400" y="4041648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5" name="Text 29"/>
          <p:cNvSpPr/>
          <p:nvPr/>
        </p:nvSpPr>
        <p:spPr>
          <a:xfrm>
            <a:off x="9098280" y="39136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 keep the UI consistent without a custom design system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8915400" y="4937760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7" name="Text 31"/>
          <p:cNvSpPr/>
          <p:nvPr/>
        </p:nvSpPr>
        <p:spPr>
          <a:xfrm>
            <a:off x="9098280" y="480974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gives instant, zero-config deployment for a live demo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/>
              <a:t>🌍 </a:t>
            </a:r>
            <a:r>
              <a:rPr lang="en-US" sz="3200" dirty="0" smtClean="0"/>
              <a:t>   Sustainable </a:t>
            </a:r>
            <a:r>
              <a:rPr lang="en-US" sz="3200" dirty="0"/>
              <a:t>Development Goals (SDGs)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component-based single-page application, deployed on Vercel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94585"/>
            <a:ext cx="7863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28016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78508"/>
            <a:ext cx="512064" cy="512064"/>
          </a:xfrm>
          <a:prstGeom prst="lin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1508760" y="1573731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🎯 </a:t>
            </a:r>
            <a:r>
              <a:rPr lang="en-US" sz="1600" dirty="0" smtClean="0"/>
              <a:t>  SDG </a:t>
            </a:r>
            <a:r>
              <a:rPr lang="en-US" sz="1600" dirty="0"/>
              <a:t>13 – Climate Action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191093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/>
              <a:t>🌱 </a:t>
            </a:r>
            <a:r>
              <a:rPr lang="en-US" sz="1100" dirty="0" smtClean="0"/>
              <a:t>    Promotes </a:t>
            </a:r>
            <a:r>
              <a:rPr lang="en-US" sz="1100" dirty="0"/>
              <a:t>data-driven afforestation planning. </a:t>
            </a:r>
            <a:endParaRPr lang="en-US" sz="1100" dirty="0" smtClean="0"/>
          </a:p>
          <a:p>
            <a:pPr>
              <a:lnSpc>
                <a:spcPct val="115000"/>
              </a:lnSpc>
            </a:pPr>
            <a:r>
              <a:rPr lang="en-US" sz="1100" dirty="0" smtClean="0"/>
              <a:t>📍     Identifies </a:t>
            </a:r>
            <a:r>
              <a:rPr lang="en-US" sz="1100" dirty="0"/>
              <a:t>tree-deficit regions for targeted plantation</a:t>
            </a:r>
            <a:r>
              <a:rPr lang="en-US" sz="1100" dirty="0" smtClean="0"/>
              <a:t>.</a:t>
            </a:r>
          </a:p>
          <a:p>
            <a:pPr>
              <a:lnSpc>
                <a:spcPct val="115000"/>
              </a:lnSpc>
            </a:pPr>
            <a:r>
              <a:rPr lang="en-US" sz="1100" dirty="0" smtClean="0"/>
              <a:t> </a:t>
            </a:r>
            <a:r>
              <a:rPr lang="en-US" sz="1100" dirty="0"/>
              <a:t>🌍 </a:t>
            </a:r>
            <a:r>
              <a:rPr lang="en-US" sz="1100" dirty="0" smtClean="0"/>
              <a:t>   Supports </a:t>
            </a:r>
            <a:r>
              <a:rPr lang="en-US" sz="1100" dirty="0"/>
              <a:t>climate resilience and forest conservation.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7863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97480"/>
            <a:ext cx="128016" cy="96012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921508"/>
            <a:ext cx="512064" cy="512064"/>
          </a:xfrm>
          <a:prstGeom prst="line">
            <a:avLst/>
          </a:prstGeom>
          <a:solidFill>
            <a:srgbClr val="52796F"/>
          </a:solidFill>
          <a:ln/>
        </p:spPr>
      </p:sp>
      <p:sp>
        <p:nvSpPr>
          <p:cNvPr id="14" name="Text 10"/>
          <p:cNvSpPr/>
          <p:nvPr/>
        </p:nvSpPr>
        <p:spPr>
          <a:xfrm>
            <a:off x="1508760" y="2788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🌳 </a:t>
            </a:r>
            <a:r>
              <a:rPr lang="en-US" sz="1600" dirty="0" smtClean="0"/>
              <a:t>  SDG </a:t>
            </a:r>
            <a:r>
              <a:rPr lang="en-US" sz="1600" dirty="0"/>
              <a:t>15 – Life on Land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08760" y="3118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🌲 </a:t>
            </a:r>
            <a:r>
              <a:rPr lang="en-US" sz="1100" dirty="0" smtClean="0"/>
              <a:t>   Encourages </a:t>
            </a:r>
            <a:r>
              <a:rPr lang="en-US" sz="1100" dirty="0"/>
              <a:t>conservation and restoration of forest ecosystems. </a:t>
            </a:r>
          </a:p>
          <a:p>
            <a:r>
              <a:rPr lang="en-US" sz="1100" dirty="0"/>
              <a:t>🗺️ </a:t>
            </a:r>
            <a:r>
              <a:rPr lang="en-US" sz="1100" dirty="0" smtClean="0"/>
              <a:t> Visualizes </a:t>
            </a:r>
            <a:r>
              <a:rPr lang="en-US" sz="1100" dirty="0"/>
              <a:t>forest resources and plantation priorities. </a:t>
            </a:r>
          </a:p>
          <a:p>
            <a:r>
              <a:rPr lang="en-US" sz="1100" dirty="0"/>
              <a:t>🌿 </a:t>
            </a:r>
            <a:r>
              <a:rPr lang="en-US" sz="1100" dirty="0" smtClean="0"/>
              <a:t>   Supports </a:t>
            </a:r>
            <a:r>
              <a:rPr lang="en-US" sz="1100" dirty="0"/>
              <a:t>biodiversity and sustainable forest management. </a:t>
            </a:r>
          </a:p>
        </p:txBody>
      </p:sp>
      <p:sp>
        <p:nvSpPr>
          <p:cNvPr id="16" name="Shape 12"/>
          <p:cNvSpPr/>
          <p:nvPr/>
        </p:nvSpPr>
        <p:spPr>
          <a:xfrm flipV="1">
            <a:off x="535806" y="3840479"/>
            <a:ext cx="7863840" cy="960121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840480"/>
            <a:ext cx="128016" cy="9601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4064508"/>
            <a:ext cx="512064" cy="512064"/>
          </a:xfrm>
          <a:prstGeom prst="line">
            <a:avLst/>
          </a:prstGeom>
          <a:solidFill>
            <a:srgbClr val="84B59F"/>
          </a:solidFill>
          <a:ln/>
        </p:spPr>
      </p:sp>
      <p:sp>
        <p:nvSpPr>
          <p:cNvPr id="20" name="Text 15"/>
          <p:cNvSpPr/>
          <p:nvPr/>
        </p:nvSpPr>
        <p:spPr>
          <a:xfrm>
            <a:off x="1508760" y="3931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🏙️ SDG 11 – Sustainable Cities &amp; Communities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508760" y="4261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👥 </a:t>
            </a:r>
            <a:r>
              <a:rPr lang="en-US" sz="1100" dirty="0" smtClean="0"/>
              <a:t>   Estimates </a:t>
            </a:r>
            <a:r>
              <a:rPr lang="en-US" sz="1100" dirty="0"/>
              <a:t>tree requirements based on population. </a:t>
            </a:r>
          </a:p>
          <a:p>
            <a:r>
              <a:rPr lang="en-US" sz="1100" dirty="0"/>
              <a:t>🌳 </a:t>
            </a:r>
            <a:r>
              <a:rPr lang="en-US" sz="1100" dirty="0" smtClean="0"/>
              <a:t>   Helps </a:t>
            </a:r>
            <a:r>
              <a:rPr lang="en-US" sz="1100" dirty="0"/>
              <a:t>improve urban green infrastructure. </a:t>
            </a:r>
          </a:p>
          <a:p>
            <a:r>
              <a:rPr lang="en-US" sz="1100" dirty="0" smtClean="0"/>
              <a:t>🌬️  Contributes </a:t>
            </a:r>
            <a:r>
              <a:rPr lang="en-US" sz="1100" dirty="0"/>
              <a:t>to better air quality, reduced heat islands, and healthier communities. </a:t>
            </a:r>
          </a:p>
        </p:txBody>
      </p:sp>
      <p:sp>
        <p:nvSpPr>
          <p:cNvPr id="24" name="Shape 19"/>
          <p:cNvSpPr/>
          <p:nvPr/>
        </p:nvSpPr>
        <p:spPr>
          <a:xfrm>
            <a:off x="822960" y="5207508"/>
            <a:ext cx="512064" cy="512064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0" name="Shape 24"/>
          <p:cNvSpPr/>
          <p:nvPr/>
        </p:nvSpPr>
        <p:spPr>
          <a:xfrm>
            <a:off x="8915400" y="2249424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2" name="Shape 26"/>
          <p:cNvSpPr/>
          <p:nvPr/>
        </p:nvSpPr>
        <p:spPr>
          <a:xfrm>
            <a:off x="8915400" y="3145536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4" name="Shape 28"/>
          <p:cNvSpPr/>
          <p:nvPr/>
        </p:nvSpPr>
        <p:spPr>
          <a:xfrm>
            <a:off x="8915400" y="4041648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36" name="Shape 30"/>
          <p:cNvSpPr/>
          <p:nvPr/>
        </p:nvSpPr>
        <p:spPr>
          <a:xfrm>
            <a:off x="8915400" y="4937760"/>
            <a:ext cx="82296" cy="82296"/>
          </a:xfrm>
          <a:prstGeom prst="line">
            <a:avLst/>
          </a:prstGeom>
          <a:solidFill>
            <a:srgbClr val="D68C45"/>
          </a:solidFill>
          <a:ln/>
        </p:spPr>
      </p:sp>
    </p:spTree>
    <p:extLst>
      <p:ext uri="{BB962C8B-B14F-4D97-AF65-F5344CB8AC3E}">
        <p14:creationId xmlns:p14="http://schemas.microsoft.com/office/powerpoint/2010/main" val="187101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89" y="688857"/>
            <a:ext cx="10034337" cy="5647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static government report to a living decision-support tool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914400" cy="914400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forest cover trends supports climate-mitigation planning at the state level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28800"/>
            <a:ext cx="914400" cy="914400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on Land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286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low-density states enables targeted afforestation to protect ecosystems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MORE THAN A CRUD APP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91440" cy="91440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visualization (Leaflet) combined with multi-chart comparative analytics (Recharts) in one synchronized 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91440" cy="91440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3425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Filter/search state drives the map, charts, and recommendations simultaneously — a real cross-component data flow, not isolated pages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91440" cy="91440"/>
          </a:xfrm>
          <a:prstGeom prst="line">
            <a:avLst/>
          </a:prstGeom>
          <a:solidFill>
            <a:srgbClr val="D68C4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01184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government statistics into a decision-support tool with actionable, state-specific plantation guidance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4322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software-project-azure.vercel.app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 smtClean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61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1022</Words>
  <Application>Microsoft Office PowerPoint</Application>
  <PresentationFormat>Custom</PresentationFormat>
  <Paragraphs>123</Paragraphs>
  <Slides>11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14</cp:revision>
  <dcterms:created xsi:type="dcterms:W3CDTF">2026-07-20T18:07:40Z</dcterms:created>
  <dcterms:modified xsi:type="dcterms:W3CDTF">2026-07-31T19:43:53Z</dcterms:modified>
</cp:coreProperties>
</file>